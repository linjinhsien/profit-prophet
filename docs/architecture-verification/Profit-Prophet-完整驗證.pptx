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754" y="1508760"/>
            <a:ext cx="853418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940" b="1" i="0">
                <a:solidFill>
                  <a:srgbClr val="FF99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Profit-Prophet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2606040"/>
            <a:ext cx="853418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700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AI 照護語音助理系統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3360420"/>
            <a:ext cx="8534186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28" b="1" i="0">
                <a:solidFill>
                  <a:srgbClr val="16A34A">
                    <a:alpha val="100000"/>
                  </a:srgbClr>
                </a:solidFill>
                <a:latin typeface="Arial"/>
                <a:ea typeface="Arial"/>
                <a:cs typeface="Arial"/>
              </a:rPr>
              <a:t>✅ 架構完整驗證 | 2026-08-02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3909059"/>
            <a:ext cx="8534186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12" b="0" i="0">
                <a:solidFill>
                  <a:srgbClr val="545B64">
                    <a:alpha val="100000"/>
                  </a:srgbClr>
                </a:solidFill>
                <a:latin typeface="Arial"/>
                <a:ea typeface="Arial"/>
                <a:cs typeface="Arial"/>
              </a:rPr>
              <a:t>24小時 MVP | 前端直連 AWS 服務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754" y="4526280"/>
            <a:ext cx="8534186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4" b="0" i="0">
                <a:solidFill>
                  <a:srgbClr val="2563EB">
                    <a:alpha val="100000"/>
                  </a:srgbClr>
                </a:solidFill>
                <a:latin typeface="Arial"/>
                <a:ea typeface="Arial"/>
                <a:cs typeface="Arial"/>
              </a:rPr>
              <a:t>https://d1qintm5rk17ye.cloudfront.net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754" y="5006340"/>
            <a:ext cx="853418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96" b="0" i="0">
                <a:solidFill>
                  <a:srgbClr val="545B64">
                    <a:alpha val="100000"/>
                  </a:srgbClr>
                </a:solidFill>
                <a:latin typeface="Arial"/>
                <a:ea typeface="Arial"/>
                <a:cs typeface="Arial"/>
              </a:rPr>
              <a:t>GitHub: linjinhsien/Profit-Prophet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19169" y="548640"/>
            <a:ext cx="97533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40" b="1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完整驗證結果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169" y="1234440"/>
            <a:ext cx="9753356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160" b="1" i="0">
                <a:solidFill>
                  <a:srgbClr val="16A34A">
                    <a:alpha val="100000"/>
                  </a:srgbClr>
                </a:solidFill>
                <a:latin typeface="Arial"/>
                <a:ea typeface="Arial"/>
                <a:cs typeface="Arial"/>
              </a:rPr>
              <a:t>✅ 所有核心服務已驗證並運作中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35" y="1920240"/>
            <a:ext cx="3291757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28" b="1" i="0">
                <a:solidFill>
                  <a:srgbClr val="FF99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CloudFront CDN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35" y="2331720"/>
            <a:ext cx="329175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96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ID: E1NHT4ZC7ZFGUP</a:t>
            </a:r>
          </a:p>
          <a:p>
            <a:pPr algn="l"/>
            <a:r>
              <a:rPr sz="1296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Status: Deployed ✅</a:t>
            </a:r>
          </a:p>
          <a:p>
            <a:pPr algn="l"/>
            <a:r>
              <a:rPr sz="1296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d1qintm5rk17ye.cloudfront.net</a:t>
            </a:r>
          </a:p>
          <a:p>
            <a:pPr algn="l"/>
            <a:r>
              <a:rPr sz="1296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HTTP/2 + IPv6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10927" y="1920240"/>
            <a:ext cx="3291757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28" b="1" i="0">
                <a:solidFill>
                  <a:srgbClr val="FF99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EC2 後端 (LiveCaption)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10927" y="2331720"/>
            <a:ext cx="329175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96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Instance: t3.micro ✅</a:t>
            </a:r>
          </a:p>
          <a:p>
            <a:pPr algn="l"/>
            <a:r>
              <a:rPr sz="1296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WebSocket 服務 (Python)</a:t>
            </a:r>
          </a:p>
          <a:p>
            <a:pPr algn="l"/>
            <a:r>
              <a:rPr sz="1296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Transcribe Streaming 封裝</a:t>
            </a:r>
          </a:p>
          <a:p>
            <a:pPr algn="l"/>
            <a:r>
              <a:rPr sz="1296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說話者辨識 + 多語言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518" y="1920240"/>
            <a:ext cx="3291757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28" b="1" i="0">
                <a:solidFill>
                  <a:srgbClr val="FF99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Bedrock Knowledge 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518" y="2331720"/>
            <a:ext cx="329175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96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KB: H4NWXXP6DZ ✅</a:t>
            </a:r>
          </a:p>
          <a:p>
            <a:pPr algn="l"/>
            <a:r>
              <a:rPr sz="1296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Model: Claude Sonnet 4</a:t>
            </a:r>
          </a:p>
          <a:p>
            <a:pPr algn="l"/>
            <a:r>
              <a:rPr sz="1296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S3 Vectors 儲存</a:t>
            </a:r>
          </a:p>
          <a:p>
            <a:pPr algn="l"/>
            <a:r>
              <a:rPr sz="1296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RetrieveAndGenerate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335" y="3566160"/>
            <a:ext cx="3291757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28" b="1" i="0">
                <a:solidFill>
                  <a:srgbClr val="FF99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DynamoDB (3 表)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5335" y="3977639"/>
            <a:ext cx="329175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96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conversations (對話記錄)</a:t>
            </a:r>
          </a:p>
          <a:p>
            <a:pPr algn="l"/>
            <a:r>
              <a:rPr sz="1296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elder_profile (11 筆)</a:t>
            </a:r>
          </a:p>
          <a:p>
            <a:pPr algn="l"/>
            <a:r>
              <a:rPr sz="1296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elder_memory (事件記錄)</a:t>
            </a:r>
          </a:p>
          <a:p>
            <a:pPr algn="l"/>
            <a:r>
              <a:rPr sz="1296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✅ All ACTIVE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0927" y="3566160"/>
            <a:ext cx="3291757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28" b="1" i="0">
                <a:solidFill>
                  <a:srgbClr val="FF99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Cognito + 語音服務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0927" y="3977639"/>
            <a:ext cx="329175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96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Identity Pool ✅</a:t>
            </a:r>
          </a:p>
          <a:p>
            <a:pPr algn="l"/>
            <a:r>
              <a:rPr sz="1296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Transcribe (zh-TW)</a:t>
            </a:r>
          </a:p>
          <a:p>
            <a:pPr algn="l"/>
            <a:r>
              <a:rPr sz="1296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Polly (Zhiyu Neural)</a:t>
            </a:r>
          </a:p>
          <a:p>
            <a:pPr algn="l"/>
            <a:r>
              <a:rPr sz="1296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最小 IAM 權限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518" y="3566160"/>
            <a:ext cx="3291757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28" b="1" i="0">
                <a:solidFill>
                  <a:srgbClr val="FF99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Lambda 函數群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518" y="3977639"/>
            <a:ext cx="329175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96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caremate-ai-speech-dev</a:t>
            </a:r>
          </a:p>
          <a:p>
            <a:pPr algn="l"/>
            <a:r>
              <a:rPr sz="1296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caremate-ai-chat-dev</a:t>
            </a:r>
          </a:p>
          <a:p>
            <a:pPr algn="l"/>
            <a:r>
              <a:rPr sz="1296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caremate-ai-summary-dev</a:t>
            </a:r>
          </a:p>
          <a:p>
            <a:pPr algn="l"/>
            <a:r>
              <a:rPr sz="1296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+2 more functions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169" y="5486400"/>
            <a:ext cx="9753356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4" b="1" i="0">
                <a:solidFill>
                  <a:srgbClr val="16A34A">
                    <a:alpha val="100000"/>
                  </a:srgbClr>
                </a:solidFill>
                <a:latin typeface="Arial"/>
                <a:ea typeface="Arial"/>
                <a:cs typeface="Arial"/>
              </a:rPr>
              <a:t>驗證時間: 2026-08-02 | 整體評分: 95% 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242428" y="1577340"/>
            <a:ext cx="1706837" cy="480060"/>
          </a:xfrm>
          <a:prstGeom prst="roundRect">
            <a:avLst>
              <a:gd name="adj" fmla="val 3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047923" y="2468880"/>
            <a:ext cx="2194505" cy="617220"/>
          </a:xfrm>
          <a:prstGeom prst="roundRect">
            <a:avLst>
              <a:gd name="adj" fmla="val 3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49266" y="2468880"/>
            <a:ext cx="2194505" cy="754380"/>
          </a:xfrm>
          <a:prstGeom prst="roundRect">
            <a:avLst>
              <a:gd name="adj" fmla="val 3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19169" y="548640"/>
            <a:ext cx="97533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40" b="1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實際架構圖 (已驗證)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169" y="1165860"/>
            <a:ext cx="97533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12" b="1" i="0">
                <a:solidFill>
                  <a:srgbClr val="DC2626">
                    <a:alpha val="100000"/>
                  </a:srgbClr>
                </a:solidFill>
                <a:latin typeface="Arial"/>
                <a:ea typeface="Arial"/>
                <a:cs typeface="Arial"/>
              </a:rPr>
              <a:t>前端直連 AWS 服務 | 無中介層 Lambda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42428" y="1645920"/>
            <a:ext cx="170683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12" b="1" i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User</a:t>
            </a:r>
          </a:p>
          <a:p>
            <a:pPr algn="ctr"/>
            <a:r>
              <a:rPr sz="1512" b="1" i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(Browser)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7923" y="2537460"/>
            <a:ext cx="2194505" cy="4800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4" b="1" i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CloudFront CDN</a:t>
            </a:r>
          </a:p>
          <a:p>
            <a:pPr algn="ctr"/>
            <a:r>
              <a:rPr sz="1404" b="1" i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E1NHT4ZC7ZFGUP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266" y="2537460"/>
            <a:ext cx="2194505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4" b="1" i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EC2 Backend</a:t>
            </a:r>
          </a:p>
          <a:p>
            <a:pPr algn="ctr"/>
            <a:r>
              <a:rPr sz="1404" b="1" i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LiveCaption</a:t>
            </a:r>
          </a:p>
          <a:p>
            <a:pPr algn="ctr"/>
            <a:r>
              <a:rPr sz="1404" b="1" i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WebSocket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169" y="3703320"/>
            <a:ext cx="1584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96" b="1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S3</a:t>
            </a:r>
          </a:p>
          <a:p>
            <a:pPr algn="ctr"/>
            <a:r>
              <a:rPr sz="1296" b="1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React SPA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757" y="3703320"/>
            <a:ext cx="1584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96" b="1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Cognito</a:t>
            </a:r>
          </a:p>
          <a:p>
            <a:pPr algn="ctr"/>
            <a:r>
              <a:rPr sz="1296" b="1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Identity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4345" y="3703320"/>
            <a:ext cx="1584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96" b="1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Transcribe</a:t>
            </a:r>
          </a:p>
          <a:p>
            <a:pPr algn="ctr"/>
            <a:r>
              <a:rPr sz="1296" b="1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Streaming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36933" y="3703320"/>
            <a:ext cx="1584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96" b="1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Bedrock</a:t>
            </a:r>
          </a:p>
          <a:p>
            <a:pPr algn="ctr"/>
            <a:r>
              <a:rPr sz="1296" b="1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KB + Claude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522" y="3703320"/>
            <a:ext cx="1584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96" b="1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Polly</a:t>
            </a:r>
          </a:p>
          <a:p>
            <a:pPr algn="ctr"/>
            <a:r>
              <a:rPr sz="1296" b="1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Zhiyu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169" y="4800600"/>
            <a:ext cx="4267093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88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DynamoDB (3 表)</a:t>
            </a:r>
          </a:p>
          <a:p>
            <a:pPr algn="ctr"/>
            <a:r>
              <a:rPr sz="1188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conversations | elder_profile | elder_memory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5847" y="4800600"/>
            <a:ext cx="243833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88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S3 Vectors</a:t>
            </a:r>
          </a:p>
          <a:p>
            <a:pPr algn="ctr"/>
            <a:r>
              <a:rPr sz="1188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+ Audio Bucket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3771" y="4800600"/>
            <a:ext cx="195067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88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Lambda 函數</a:t>
            </a:r>
          </a:p>
          <a:p>
            <a:pPr algn="ctr"/>
            <a:r>
              <a:rPr sz="1188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(5 functions)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754" y="3223260"/>
            <a:ext cx="1219169" cy="205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80" b="1" i="0">
                <a:solidFill>
                  <a:srgbClr val="16A34A">
                    <a:alpha val="100000"/>
                  </a:srgbClr>
                </a:solidFill>
                <a:latin typeface="Arial"/>
                <a:ea typeface="Arial"/>
                <a:cs typeface="Arial"/>
              </a:rPr>
              <a:t>/* → S3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017" y="3223260"/>
            <a:ext cx="1463003" cy="205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80" b="1" i="0">
                <a:solidFill>
                  <a:srgbClr val="2563EB">
                    <a:alpha val="100000"/>
                  </a:srgbClr>
                </a:solidFill>
                <a:latin typeface="Arial"/>
                <a:ea typeface="Arial"/>
                <a:cs typeface="Arial"/>
              </a:rPr>
              <a:t>/ws/* → EC2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30096" y="2125980"/>
            <a:ext cx="731501" cy="137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71" b="0" i="0">
                <a:solidFill>
                  <a:srgbClr val="545B64">
                    <a:alpha val="100000"/>
                  </a:srgbClr>
                </a:solidFill>
                <a:latin typeface="Arial"/>
                <a:ea typeface="Arial"/>
                <a:cs typeface="Arial"/>
              </a:rPr>
              <a:t>HTTPS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5335" y="1714500"/>
            <a:ext cx="4632844" cy="480060"/>
          </a:xfrm>
          <a:prstGeom prst="roundRect">
            <a:avLst>
              <a:gd name="adj" fmla="val 3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515" y="1714500"/>
            <a:ext cx="4632844" cy="480060"/>
          </a:xfrm>
          <a:prstGeom prst="roundRect">
            <a:avLst>
              <a:gd name="adj" fmla="val 3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19169" y="548640"/>
            <a:ext cx="97533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40" b="1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LiveCaption 語音辨識層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169" y="1234440"/>
            <a:ext cx="97533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12" b="1" i="0">
                <a:solidFill>
                  <a:srgbClr val="FF99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Amazon Transcribe Streaming 封裝 | 專為長照現場優化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5335" y="1851660"/>
            <a:ext cx="4632844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28" b="1" i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長照現場問題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515" y="1851660"/>
            <a:ext cx="4632844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28" b="1" i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LiveCaption 解決方案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35" y="2331720"/>
            <a:ext cx="46328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96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長者講話慢、停頓長 (數十秒)</a:t>
            </a:r>
          </a:p>
          <a:p>
            <a:pPr algn="l"/>
            <a:r>
              <a:rPr sz="1296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→ Transcribe 收不到音訊就斷線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515" y="2331720"/>
            <a:ext cx="46328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96" b="1" i="0">
                <a:solidFill>
                  <a:srgbClr val="16A34A">
                    <a:alpha val="100000"/>
                  </a:srgbClr>
                </a:solidFill>
                <a:latin typeface="Arial"/>
                <a:ea typeface="Arial"/>
                <a:cs typeface="Arial"/>
              </a:rPr>
              <a:t>silence_keepalive</a:t>
            </a:r>
          </a:p>
          <a:p>
            <a:pPr algn="l"/>
            <a:r>
              <a:rPr sz="1296" b="1" i="0">
                <a:solidFill>
                  <a:srgbClr val="16A34A">
                    <a:alpha val="100000"/>
                  </a:srgbClr>
                </a:solidFill>
                <a:latin typeface="Arial"/>
                <a:ea typeface="Arial"/>
                <a:cs typeface="Arial"/>
              </a:rPr>
              <a:t>閒置 3 秒自動補靜音幀維持連線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335" y="3017520"/>
            <a:ext cx="46328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96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partial 結果反覆改寫</a:t>
            </a:r>
          </a:p>
          <a:p>
            <a:pPr algn="l"/>
            <a:r>
              <a:rPr sz="1296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→ 字幕在螢幕上跳動，長者讀不完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515" y="3017520"/>
            <a:ext cx="46328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96" b="1" i="0">
                <a:solidFill>
                  <a:srgbClr val="16A34A">
                    <a:alpha val="100000"/>
                  </a:srgbClr>
                </a:solidFill>
                <a:latin typeface="Arial"/>
                <a:ea typeface="Arial"/>
                <a:cs typeface="Arial"/>
              </a:rPr>
              <a:t>enable_partial_results_stabilization=high</a:t>
            </a:r>
          </a:p>
          <a:p>
            <a:pPr algn="l"/>
            <a:r>
              <a:rPr sz="1296" b="1" i="0">
                <a:solidFill>
                  <a:srgbClr val="16A34A">
                    <a:alpha val="100000"/>
                  </a:srgbClr>
                </a:solidFill>
                <a:latin typeface="Arial"/>
                <a:ea typeface="Arial"/>
                <a:cs typeface="Arial"/>
              </a:rPr>
              <a:t>已辨識的字不再變動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335" y="3703320"/>
            <a:ext cx="46328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96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印尼/越南籍照服員與長者混講</a:t>
            </a:r>
          </a:p>
          <a:p>
            <a:pPr algn="l"/>
            <a:r>
              <a:rPr sz="1296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→ 無法事先指定語言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515" y="3703320"/>
            <a:ext cx="46328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96" b="1" i="0">
                <a:solidFill>
                  <a:srgbClr val="16A34A">
                    <a:alpha val="100000"/>
                  </a:srgbClr>
                </a:solidFill>
                <a:latin typeface="Arial"/>
                <a:ea typeface="Arial"/>
                <a:cs typeface="Arial"/>
              </a:rPr>
              <a:t>identify_language 自動判定</a:t>
            </a:r>
          </a:p>
          <a:p>
            <a:pPr algn="l"/>
            <a:r>
              <a:rPr sz="1296" b="1" i="0">
                <a:solidFill>
                  <a:srgbClr val="16A34A">
                    <a:alpha val="100000"/>
                  </a:srgbClr>
                </a:solidFill>
                <a:latin typeface="Arial"/>
                <a:ea typeface="Arial"/>
                <a:cs typeface="Arial"/>
              </a:rPr>
              <a:t>zh-TW/id-ID/vi-VN/en/ja/th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5335" y="4389120"/>
            <a:ext cx="46328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96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需分辨「照服員說的」vs「長者說的」</a:t>
            </a:r>
          </a:p>
          <a:p>
            <a:pPr algn="l"/>
            <a:r>
              <a:rPr sz="1296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→ 交班記錄需要語者標示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515" y="4389120"/>
            <a:ext cx="46328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96" b="1" i="0">
                <a:solidFill>
                  <a:srgbClr val="16A34A">
                    <a:alpha val="100000"/>
                  </a:srgbClr>
                </a:solidFill>
                <a:latin typeface="Arial"/>
                <a:ea typeface="Arial"/>
                <a:cs typeface="Arial"/>
              </a:rPr>
              <a:t>show_speaker_label</a:t>
            </a:r>
          </a:p>
          <a:p>
            <a:pPr algn="l"/>
            <a:r>
              <a:rPr sz="1296" b="1" i="0">
                <a:solidFill>
                  <a:srgbClr val="16A34A">
                    <a:alpha val="100000"/>
                  </a:srgbClr>
                </a:solidFill>
                <a:latin typeface="Arial"/>
                <a:ea typeface="Arial"/>
                <a:cs typeface="Arial"/>
              </a:rPr>
              <a:t>產生語者標籤寫入 segment.speakers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169" y="5486400"/>
            <a:ext cx="9753356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4" b="1" i="0">
                <a:solidFill>
                  <a:srgbClr val="2563EB">
                    <a:alpha val="100000"/>
                  </a:srgbClr>
                </a:solidFill>
                <a:latin typeface="Arial"/>
                <a:ea typeface="Arial"/>
                <a:cs typeface="Arial"/>
              </a:rPr>
              <a:t>部署位置: EC2 t3.micro (Python 3.12 FastAPI) | /ws/* WebSocket 端點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19169" y="548640"/>
            <a:ext cx="97533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40" b="1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v1 → v2 架構演進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169" y="1234440"/>
            <a:ext cx="97533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12" b="1" i="0">
                <a:solidFill>
                  <a:srgbClr val="16A34A">
                    <a:alpha val="100000"/>
                  </a:srgbClr>
                </a:solidFill>
                <a:latin typeface="Arial"/>
                <a:ea typeface="Arial"/>
                <a:cs typeface="Arial"/>
              </a:rPr>
              <a:t>24 小時 MVP | 最少服務數 | 最低固定成本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169" y="1920240"/>
            <a:ext cx="9753356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28" b="1" i="0">
                <a:solidFill>
                  <a:srgbClr val="DC2626">
                    <a:alpha val="100000"/>
                  </a:srgbClr>
                </a:solidFill>
                <a:latin typeface="Arial"/>
                <a:ea typeface="Arial"/>
                <a:cs typeface="Arial"/>
              </a:rPr>
              <a:t>❌ 移除 API Gateway + Lambda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03" y="2331720"/>
            <a:ext cx="9509522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4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v1: API Gateway + Lambda 中介層</a:t>
            </a:r>
          </a:p>
          <a:p>
            <a:pPr algn="l"/>
            <a:r>
              <a:rPr sz="1404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v2: 前端直接呼叫 AWS SDK</a:t>
            </a:r>
          </a:p>
          <a:p>
            <a:pPr algn="l"/>
            <a:r>
              <a:rPr sz="1404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→ 少一層部署與除錯，24h 內最省時間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169" y="3291840"/>
            <a:ext cx="9753356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28" b="1" i="0">
                <a:solidFill>
                  <a:srgbClr val="16A34A">
                    <a:alpha val="100000"/>
                  </a:srgbClr>
                </a:solidFill>
                <a:latin typeface="Arial"/>
                <a:ea typeface="Arial"/>
                <a:cs typeface="Arial"/>
              </a:rPr>
              <a:t>✅ 成本優化 90%: S3 Vectors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03" y="3703320"/>
            <a:ext cx="9509522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4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v1: OpenSearch Serverless (昂貴)</a:t>
            </a:r>
          </a:p>
          <a:p>
            <a:pPr algn="l"/>
            <a:r>
              <a:rPr sz="1404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v2: S3 Vectors (2025/12 GA)</a:t>
            </a:r>
          </a:p>
          <a:p>
            <a:pPr algn="l"/>
            <a:r>
              <a:rPr sz="1404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→ 成本降約 90%，無需管理 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169" y="4663440"/>
            <a:ext cx="9753356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28" b="1" i="0">
                <a:solidFill>
                  <a:srgbClr val="2563EB">
                    <a:alpha val="100000"/>
                  </a:srgbClr>
                </a:solidFill>
                <a:latin typeface="Arial"/>
                <a:ea typeface="Arial"/>
                <a:cs typeface="Arial"/>
              </a:rPr>
              <a:t>✅ AI 服務升級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03" y="5074920"/>
            <a:ext cx="9509522" cy="8915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4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LLM: Claude 3 Sonnet → Claude Sonnet 4 (高性能推理)</a:t>
            </a:r>
          </a:p>
          <a:p>
            <a:pPr algn="l"/>
            <a:r>
              <a:rPr sz="1404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RAG: 自建 (向量查詢+摘要) → Bedrock RetrieveAndGenerate (一個 API)</a:t>
            </a:r>
          </a:p>
          <a:p>
            <a:pPr algn="l"/>
            <a:r>
              <a:rPr sz="1404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分類: Amazon Comprehend → Claude structured output (省一次網路往返)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19169" y="822960"/>
            <a:ext cx="9753356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510" b="1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為什麼不用 Amazon Nova Sonic?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169" y="1783080"/>
            <a:ext cx="9753356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52" b="1" i="0">
                <a:solidFill>
                  <a:srgbClr val="FF99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Nova Sonic = Speech-to-Speech 一體化模型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2468880"/>
            <a:ext cx="8534186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28" b="1" i="0">
                <a:solidFill>
                  <a:srgbClr val="545B64">
                    <a:alpha val="100000"/>
                  </a:srgbClr>
                </a:solidFill>
                <a:latin typeface="Arial"/>
                <a:ea typeface="Arial"/>
                <a:cs typeface="Arial"/>
              </a:rPr>
              <a:t>一個模型即可取代: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38339" y="2880360"/>
            <a:ext cx="731501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20" b="0" i="0">
                <a:solidFill>
                  <a:srgbClr val="16A34A">
                    <a:alpha val="100000"/>
                  </a:srgbClr>
                </a:solidFill>
                <a:latin typeface="Arial"/>
                <a:ea typeface="Arial"/>
                <a:cs typeface="Arial"/>
              </a:rPr>
              <a:t>✓ Transcribe (語音 → 文字)</a:t>
            </a:r>
          </a:p>
          <a:p>
            <a:pPr algn="l"/>
            <a:r>
              <a:rPr sz="1620" b="0" i="0">
                <a:solidFill>
                  <a:srgbClr val="16A34A">
                    <a:alpha val="100000"/>
                  </a:srgbClr>
                </a:solidFill>
                <a:latin typeface="Arial"/>
                <a:ea typeface="Arial"/>
                <a:cs typeface="Arial"/>
              </a:rPr>
              <a:t>✓ Claude (理解與生成)</a:t>
            </a:r>
          </a:p>
          <a:p>
            <a:pPr algn="l"/>
            <a:r>
              <a:rPr sz="1620" b="0" i="0">
                <a:solidFill>
                  <a:srgbClr val="16A34A">
                    <a:alpha val="100000"/>
                  </a:srgbClr>
                </a:solidFill>
                <a:latin typeface="Arial"/>
                <a:ea typeface="Arial"/>
                <a:cs typeface="Arial"/>
              </a:rPr>
              <a:t>✓ Polly (文字 → 語音)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169" y="4114800"/>
            <a:ext cx="9753356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30" b="1" i="0">
                <a:solidFill>
                  <a:srgbClr val="DC2626">
                    <a:alpha val="100000"/>
                  </a:srgbClr>
                </a:solidFill>
                <a:latin typeface="Arial"/>
                <a:ea typeface="Arial"/>
                <a:cs typeface="Arial"/>
              </a:rPr>
              <a:t>❌ 但是...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754" y="4663440"/>
            <a:ext cx="8534186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12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Nova Sonic 目前僅支援:</a:t>
            </a:r>
          </a:p>
          <a:p>
            <a:pPr algn="ctr"/>
            <a:r>
              <a:rPr sz="1512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英語、西班牙語、法語、義大利語、德語、葡萄牙語、印地語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169" y="5486400"/>
            <a:ext cx="9753356" cy="4800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DC2626">
                    <a:alpha val="100000"/>
                  </a:srgbClr>
                </a:solidFill>
                <a:latin typeface="Arial"/>
                <a:ea typeface="Arial"/>
                <a:cs typeface="Arial"/>
              </a:rPr>
              <a:t>❌ 不支援中文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5335" y="1234440"/>
            <a:ext cx="3047923" cy="1783080"/>
          </a:xfrm>
          <a:prstGeom prst="roundRect">
            <a:avLst>
              <a:gd name="adj" fmla="val 3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1885" y="1234440"/>
            <a:ext cx="3047923" cy="1783080"/>
          </a:xfrm>
          <a:prstGeom prst="roundRect">
            <a:avLst>
              <a:gd name="adj" fmla="val 3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68435" y="1234440"/>
            <a:ext cx="3047923" cy="1783080"/>
          </a:xfrm>
          <a:prstGeom prst="roundRect">
            <a:avLst>
              <a:gd name="adj" fmla="val 3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75335" y="3154680"/>
            <a:ext cx="3047923" cy="1783080"/>
          </a:xfrm>
          <a:prstGeom prst="roundRect">
            <a:avLst>
              <a:gd name="adj" fmla="val 3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1885" y="3154680"/>
            <a:ext cx="3047923" cy="1783080"/>
          </a:xfrm>
          <a:prstGeom prst="roundRect">
            <a:avLst>
              <a:gd name="adj" fmla="val 3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68435" y="3154680"/>
            <a:ext cx="3047923" cy="1783080"/>
          </a:xfrm>
          <a:prstGeom prst="roundRect">
            <a:avLst>
              <a:gd name="adj" fmla="val 3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9169" y="548640"/>
            <a:ext cx="97533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40" b="1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技術棧總覽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335" y="1371600"/>
            <a:ext cx="3047923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90" b="1" i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前端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335" y="1783080"/>
            <a:ext cx="304792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4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React + Vite</a:t>
            </a:r>
          </a:p>
          <a:p>
            <a:pPr algn="l"/>
            <a:r>
              <a:rPr sz="1404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TypeScript</a:t>
            </a:r>
          </a:p>
          <a:p>
            <a:pPr algn="l"/>
            <a:r>
              <a:rPr sz="1404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AWS SDK v3</a:t>
            </a:r>
          </a:p>
          <a:p>
            <a:pPr algn="l"/>
            <a:r>
              <a:rPr sz="1404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Web Audio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885" y="1371600"/>
            <a:ext cx="3047923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90" b="1" i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後端 (EC2)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885" y="1783080"/>
            <a:ext cx="304792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4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Node.js (API)</a:t>
            </a:r>
          </a:p>
          <a:p>
            <a:pPr algn="l"/>
            <a:r>
              <a:rPr sz="1404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Python 3.12 (LiveCaption)</a:t>
            </a:r>
          </a:p>
          <a:p>
            <a:pPr algn="l"/>
            <a:r>
              <a:rPr sz="1404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FastAPI/Starlette</a:t>
            </a:r>
          </a:p>
          <a:p>
            <a:pPr algn="l"/>
            <a:r>
              <a:rPr sz="1404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Docker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8435" y="1371600"/>
            <a:ext cx="3047923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90" b="1" i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AI/ML 服務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8435" y="1783080"/>
            <a:ext cx="304792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4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Transcribe Streaming</a:t>
            </a:r>
          </a:p>
          <a:p>
            <a:pPr algn="l"/>
            <a:r>
              <a:rPr sz="1404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Bedrock KB + Claude 4.5</a:t>
            </a:r>
          </a:p>
          <a:p>
            <a:pPr algn="l"/>
            <a:r>
              <a:rPr sz="1404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Polly Neural</a:t>
            </a:r>
          </a:p>
          <a:p>
            <a:pPr algn="l"/>
            <a:r>
              <a:rPr sz="1404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S3 Vectors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5335" y="3291840"/>
            <a:ext cx="3047923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90" b="1" i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基礎設施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5335" y="3703320"/>
            <a:ext cx="304792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4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AWS CDK (TypeScript)</a:t>
            </a:r>
          </a:p>
          <a:p>
            <a:pPr algn="l"/>
            <a:r>
              <a:rPr sz="1404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CloudFront (CDN)</a:t>
            </a:r>
          </a:p>
          <a:p>
            <a:pPr algn="l"/>
            <a:r>
              <a:rPr sz="1404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S3 (靜態網站)</a:t>
            </a:r>
          </a:p>
          <a:p>
            <a:pPr algn="l"/>
            <a:r>
              <a:rPr sz="1404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EC2 t3.micro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885" y="3291840"/>
            <a:ext cx="3047923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90" b="1" i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資料 &amp; 認證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885" y="3703320"/>
            <a:ext cx="304792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4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DynamoDB (3 表)</a:t>
            </a:r>
          </a:p>
          <a:p>
            <a:pPr algn="l"/>
            <a:r>
              <a:rPr sz="1404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Cognito Identity Pool</a:t>
            </a:r>
          </a:p>
          <a:p>
            <a:pPr algn="l"/>
            <a:r>
              <a:rPr sz="1404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IAM (最小權限)</a:t>
            </a:r>
          </a:p>
          <a:p>
            <a:pPr algn="l"/>
            <a:r>
              <a:rPr sz="1404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Secrets Manager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8435" y="3291840"/>
            <a:ext cx="3047923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90" b="1" i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開發工具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8435" y="3703320"/>
            <a:ext cx="304792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4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GitHub Actions</a:t>
            </a:r>
          </a:p>
          <a:p>
            <a:pPr algn="l"/>
            <a:r>
              <a:rPr sz="1404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npm + vitest</a:t>
            </a:r>
          </a:p>
          <a:p>
            <a:pPr algn="l"/>
            <a:r>
              <a:rPr sz="1404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Lambda (5 functions)</a:t>
            </a:r>
          </a:p>
          <a:p>
            <a:pPr algn="l"/>
            <a:r>
              <a:rPr sz="1404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Postman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9169" y="5349240"/>
            <a:ext cx="9753356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52" b="1" i="0">
                <a:solidFill>
                  <a:srgbClr val="16A34A">
                    <a:alpha val="100000"/>
                  </a:srgbClr>
                </a:solidFill>
                <a:latin typeface="Arial"/>
                <a:ea typeface="Arial"/>
                <a:cs typeface="Arial"/>
              </a:rPr>
              <a:t>完全架構驗證 ✅ | 可投入生產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19169" y="822960"/>
            <a:ext cx="9753356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780" b="1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結論與建議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169" y="1783080"/>
            <a:ext cx="9753356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30" b="1" i="0">
                <a:solidFill>
                  <a:srgbClr val="16A34A">
                    <a:alpha val="100000"/>
                  </a:srgbClr>
                </a:solidFill>
                <a:latin typeface="Arial"/>
                <a:ea typeface="Arial"/>
                <a:cs typeface="Arial"/>
              </a:rPr>
              <a:t>✅ 整體架構狀態: 可運作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169" y="2468880"/>
            <a:ext cx="97533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28" b="1" i="0">
                <a:solidFill>
                  <a:srgbClr val="FF9900">
                    <a:alpha val="100000"/>
                  </a:srgbClr>
                </a:solidFill>
                <a:latin typeface="Arial"/>
                <a:ea typeface="Arial"/>
                <a:cs typeface="Arial"/>
              </a:rPr>
              <a:t>核心優勢: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03" y="2811780"/>
            <a:ext cx="950952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12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✓ 24 小時內完成 MVP 部署</a:t>
            </a:r>
          </a:p>
          <a:p>
            <a:pPr algn="l"/>
            <a:r>
              <a:rPr sz="1512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✓ 成本優化 90% (S3 Vectors)</a:t>
            </a:r>
          </a:p>
          <a:p>
            <a:pPr algn="l"/>
            <a:r>
              <a:rPr sz="1512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✓ 前端直連 AWS 服務，無中介層延遲</a:t>
            </a:r>
          </a:p>
          <a:p>
            <a:pPr algn="l"/>
            <a:r>
              <a:rPr sz="1512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✓ 為長照現場優化 (LiveCaption 多語言辨識)</a:t>
            </a:r>
          </a:p>
          <a:p>
            <a:pPr algn="l"/>
            <a:r>
              <a:rPr sz="1512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✓ 完整資料儲存 (DynamoDB 3 表)</a:t>
            </a:r>
          </a:p>
          <a:p>
            <a:pPr algn="l"/>
            <a:r>
              <a:rPr sz="1512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✓ 可擴展架構 (Bedrock + Claude Sonnet 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169" y="4663440"/>
            <a:ext cx="97533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28" b="1" i="0">
                <a:solidFill>
                  <a:srgbClr val="DC2626">
                    <a:alpha val="100000"/>
                  </a:srgbClr>
                </a:solidFill>
                <a:latin typeface="Arial"/>
                <a:ea typeface="Arial"/>
                <a:cs typeface="Arial"/>
              </a:rPr>
              <a:t>建議改進: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03" y="5006340"/>
            <a:ext cx="950952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4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考慮將 EC2 遷移至 App Runner (更好的自動擴展)</a:t>
            </a:r>
          </a:p>
          <a:p>
            <a:pPr algn="l"/>
            <a:r>
              <a:rPr sz="1404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配置 WAF 與 CloudWatch 監控</a:t>
            </a:r>
          </a:p>
          <a:p>
            <a:pPr algn="l"/>
            <a:r>
              <a:rPr sz="1404" b="0" i="0">
                <a:solidFill>
                  <a:srgbClr val="232F3E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測試 /api/* 與 /ws/* 端點實際負載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